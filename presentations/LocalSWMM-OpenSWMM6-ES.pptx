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920240" cy="64008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>
                <a:solidFill>
                  <a:srgbClr val="FFFFFF"/>
                </a:solidFill>
                <a:latin typeface="Calibri"/>
              </a:rPr>
              <a:t>LocalSWMM — El motor </a:t>
            </a:r>
            <a:r>
              <a:rPr sz="4400" b="1">
                <a:solidFill>
                  <a:srgbClr val="FFFFFF"/>
                </a:solidFill>
                <a:latin typeface="Calibri"/>
              </a:rPr>
              <a:t>OpenSWMM 6</a:t>
            </a:r>
            <a:r>
              <a:rPr sz="4400" b="0">
                <a:solidFill>
                  <a:srgbClr val="FFFFFF"/>
                </a:solidFill>
                <a:latin typeface="Calibri"/>
              </a:rPr>
              <a:t>, en el navegador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31920"/>
            <a:ext cx="9601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BFD2E5"/>
                </a:solidFill>
                <a:latin typeface="Calibri"/>
              </a:rPr>
              <a:t>Una GUI web impulsada por WebAssembly para modelar aguas lluvia y residuales · Panorama técnico y de investigación del motor, la GUI, el esquema 1D y el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9FB6CC"/>
                </a:solidFill>
                <a:latin typeface="Calibri"/>
              </a:rPr>
              <a:t>LocalSWMM · https://swmm6.is-local.org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La Oportunidad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El vacío: SWMM 6.0 es impulsado por la comunidad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La EPA de EE. UU. no ha lanzado SWMM 6.0 — la página oficial aún lista </a:t>
            </a:r>
            <a:r>
              <a:rPr sz="1300" b="1">
                <a:solidFill>
                  <a:srgbClr val="1A1A2E"/>
                </a:solidFill>
                <a:latin typeface="Calibri"/>
              </a:rPr>
              <a:t>SWMM 5.2.4</a:t>
            </a:r>
            <a:r>
              <a:rPr sz="1300" b="0">
                <a:solidFill>
                  <a:srgbClr val="1A1A2E"/>
                </a:solidFill>
                <a:latin typeface="Calibri"/>
              </a:rPr>
              <a:t> (2023)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La línea 6.x vive solo en la comunidad: el motor </a:t>
            </a:r>
            <a:r>
              <a:rPr sz="1300" b="1">
                <a:solidFill>
                  <a:srgbClr val="1A1A2E"/>
                </a:solidFill>
                <a:latin typeface="Calibri"/>
              </a:rPr>
              <a:t>HydroCouple OpenSWMM</a:t>
            </a:r>
            <a:r>
              <a:rPr sz="1300" b="0">
                <a:solidFill>
                  <a:srgbClr val="1A1A2E"/>
                </a:solidFill>
                <a:latin typeface="Calibri"/>
              </a:rPr>
              <a:t> (fork del repo de EPA)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OpenSWMM </a:t>
            </a:r>
            <a:r>
              <a:rPr sz="1300" b="1">
                <a:solidFill>
                  <a:srgbClr val="1A1A2E"/>
                </a:solidFill>
                <a:latin typeface="Calibri"/>
              </a:rPr>
              <a:t>6.0.0-alpha.1 debutó en mayo de 2026</a:t>
            </a:r>
            <a:r>
              <a:rPr sz="1300" b="0">
                <a:solidFill>
                  <a:srgbClr val="1A1A2E"/>
                </a:solidFill>
                <a:latin typeface="Calibri"/>
              </a:rPr>
              <a:t> (hoy alpha.3)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Reescrito en </a:t>
            </a:r>
            <a:r>
              <a:rPr sz="1300" b="1">
                <a:solidFill>
                  <a:srgbClr val="1A1A2E"/>
                </a:solidFill>
                <a:latin typeface="Calibri"/>
              </a:rPr>
              <a:t>C++20</a:t>
            </a:r>
            <a:r>
              <a:rPr sz="1300" b="0">
                <a:solidFill>
                  <a:srgbClr val="1A1A2E"/>
                </a:solidFill>
                <a:latin typeface="Calibri"/>
              </a:rPr>
              <a:t>: diseño orientado a datos (SoA), motor reentrante, I/O por plugins en hilo dedicado, backends Kokkos GPU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Nueva hidráulica: continuidad de nodo semi-implícita, aceleración de Anderson, routing de volumen finito, acoplamiento 1D/2D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Una oportunidad de primer movimiento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El repo oficial de bindings WebAssembly (</a:t>
            </a:r>
            <a:r>
              <a:rPr sz="1300" b="1">
                <a:solidFill>
                  <a:srgbClr val="1A1A2E"/>
                </a:solidFill>
                <a:latin typeface="Calibri"/>
              </a:rPr>
              <a:t>openswmm.engine.wasm</a:t>
            </a:r>
            <a:r>
              <a:rPr sz="1300" b="0">
                <a:solidFill>
                  <a:srgbClr val="1A1A2E"/>
                </a:solidFill>
                <a:latin typeface="Calibri"/>
              </a:rPr>
              <a:t>) es un stub vacío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Pocos proyectos construyen sobre el motor v6: una GUI Qt de escritorio, un batch runner, tooling Python/agentes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LocalSWMM es la única GUI web completa y basada en mapa</a:t>
            </a:r>
            <a:r>
              <a:rPr sz="1300" b="0">
                <a:solidFill>
                  <a:srgbClr val="1A1A2E"/>
                </a:solidFill>
                <a:latin typeface="Calibri"/>
              </a:rPr>
              <a:t> sobre OpenSWMM 6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Creado 2 días después de alpha.1 (mayo 2026) — posición temprana en un ecosistema naciente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Estado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100% en el navegador</a:t>
            </a:r>
            <a:r>
              <a:rPr sz="1300" b="0">
                <a:solidFill>
                  <a:srgbClr val="1A1A2E"/>
                </a:solidFill>
                <a:latin typeface="Calibri"/>
              </a:rPr>
              <a:t>: editor, malla y motor corren en el navegador — sin backend, sin base de datos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~15.000 líneas de JavaScript sin frameworks (IIFEs clásicos) + Mapbox GL JS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Estable: editor 1D + pipeline del motor. Experimental: módulo 2D + marcher WebGPU opcional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Motor fijado como submódulo git (fork de HydroCouple + fixes de compatibilidad wasm)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Despliegue: Cloudflare Pages (producción, build con hilos) + GitHub Pages (sin hilos)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El Motor en el Navegador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Arquitectura — solo cliente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El motor OpenSWMM compilado a </a:t>
            </a:r>
            <a:r>
              <a:rPr sz="1300" b="1">
                <a:solidFill>
                  <a:srgbClr val="1A1A2E"/>
                </a:solidFill>
                <a:latin typeface="Calibri"/>
              </a:rPr>
              <a:t>WebAssembly con Emscripten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Flujo: modelo → INP → worker → motor WASM → .rpt/.out → resultados (tablas, mapa, gráficos)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El único servidor: archivos estáticos + un endpoint de salud (</a:t>
            </a:r>
            <a:r>
              <a:rPr sz="1300" b="1">
                <a:solidFill>
                  <a:srgbClr val="1A1A2E"/>
                </a:solidFill>
                <a:latin typeface="Calibri"/>
              </a:rPr>
              <a:t>GET /api/status</a:t>
            </a:r>
            <a:r>
              <a:rPr sz="1300" b="0">
                <a:solidFill>
                  <a:srgbClr val="1A1A2E"/>
                </a:solidFill>
                <a:latin typeface="Calibri"/>
              </a:rPr>
              <a:t>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Dos backends de simulación: el motor WASM (1D + 1D/2D) y un solver WebGPU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C++ → WASM con Emscripten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clang/LLVM compila C++20 a un </a:t>
            </a:r>
            <a:r>
              <a:rPr sz="1300" b="1">
                <a:solidFill>
                  <a:srgbClr val="1A1A2E"/>
                </a:solidFill>
                <a:latin typeface="Calibri"/>
              </a:rPr>
              <a:t>binario WebAssembly + loader JS de glue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Deps vcpkg: eigen3, hdf5, nlohmann-json, sundials — triplet wasm32-emscripten, estáticos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Flags del wrapper CMake: MODULARIZE, EXPORT_NAME createOpenSwmm2D, ALLOW_MEMORY_GROWTH, FILESYSTEM=1 (MEMFS)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Resultado: ~</a:t>
            </a:r>
            <a:r>
              <a:rPr sz="1300" b="1">
                <a:solidFill>
                  <a:srgbClr val="1A1A2E"/>
                </a:solidFill>
                <a:latin typeface="Calibri"/>
              </a:rPr>
              <a:t>4,8 MB</a:t>
            </a:r>
            <a:r>
              <a:rPr sz="1300" b="0">
                <a:solidFill>
                  <a:srgbClr val="1A1A2E"/>
                </a:solidFill>
                <a:latin typeface="Calibri"/>
              </a:rPr>
              <a:t> .wasm + ~91 KB glue; compilación asíncrona y streaming, pre-calentada en un worker al cargar la página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El puente de la API C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31 símbolos exportados</a:t>
            </a:r>
            <a:r>
              <a:rPr sz="1300" b="0">
                <a:solidFill>
                  <a:srgbClr val="1A1A2E"/>
                </a:solidFill>
                <a:latin typeface="Calibri"/>
              </a:rPr>
              <a:t>: swmm_engine_*, swmm_2d_*, swmm_node_*, malloc/free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El motor corre en un </a:t>
            </a:r>
            <a:r>
              <a:rPr sz="1300" b="1">
                <a:solidFill>
                  <a:srgbClr val="1A1A2E"/>
                </a:solidFill>
                <a:latin typeface="Calibri"/>
              </a:rPr>
              <a:t>Web Worker persistente</a:t>
            </a:r>
            <a:r>
              <a:rPr sz="1300" b="0">
                <a:solidFill>
                  <a:srgbClr val="1A1A2E"/>
                </a:solidFill>
                <a:latin typeface="Calibri"/>
              </a:rPr>
              <a:t>; una instancia nueva por corrida (~10–50 ms)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Entrada: FS.writeFile('/in.inp') · salida: FS.readFile('/rpt.rpt' + '/out.out')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Un loop stride() impulsa la simulación; el .out binario se parsea zero-copy (vistas Float32Array)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Hilos y aislamiento cross-origin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Los loops del solver OpenMP mapean a </a:t>
            </a:r>
            <a:r>
              <a:rPr sz="1300" b="1">
                <a:solidFill>
                  <a:srgbClr val="1A1A2E"/>
                </a:solidFill>
                <a:latin typeface="Calibri"/>
              </a:rPr>
              <a:t>pthreads de Emscripten → SharedArrayBuffer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SharedArrayBuffer está detrás de los headers </a:t>
            </a:r>
            <a:r>
              <a:rPr sz="1300" b="1">
                <a:solidFill>
                  <a:srgbClr val="1A1A2E"/>
                </a:solidFill>
                <a:latin typeface="Calibri"/>
              </a:rPr>
              <a:t>COOP/COEP</a:t>
            </a:r>
            <a:r>
              <a:rPr sz="1300" b="0">
                <a:solidFill>
                  <a:srgbClr val="1A1A2E"/>
                </a:solidFill>
                <a:latin typeface="Calibri"/>
              </a:rPr>
              <a:t> — la página debe estar cross-origin isolated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Cloudflare Pages sirve los headers (producción); </a:t>
            </a:r>
            <a:r>
              <a:rPr sz="1300" b="1">
                <a:solidFill>
                  <a:srgbClr val="1A1A2E"/>
                </a:solidFill>
                <a:latin typeface="Calibri"/>
              </a:rPr>
              <a:t>GitHub Pages no puede → sin build con hilos</a:t>
            </a:r>
            <a:r>
              <a:rPr sz="1300" b="0">
                <a:solidFill>
                  <a:srgbClr val="1A1A2E"/>
                </a:solidFill>
                <a:latin typeface="Calibri"/>
              </a:rPr>
              <a:t> allí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PTHREAD_POOL_SIZE=4 pre-lanza workers; las esperas bloqueantes corren en un worker, nunca en la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Un motor en el navegador: ventajas vs desventajas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349240" cy="4663440"/>
          </a:xfrm>
          <a:prstGeom prst="rect">
            <a:avLst/>
          </a:prstGeom>
          <a:solidFill>
            <a:srgbClr val="E9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D7377"/>
                </a:solidFill>
                <a:latin typeface="Calibri"/>
              </a:rPr>
              <a:t>Ventajas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4892040" cy="37490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Privacidad: los modelos nunca salen del dispositivo — sin servidor, sin cuenta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Funciona offline, sin instalación, multiplataforma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Sin costo de servidor; escala a cero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El mismo código C++ compila nativo y wasm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Sandbox, velocidad escalar casi nativa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349240" cy="4663440"/>
          </a:xfrm>
          <a:prstGeom prst="rect">
            <a:avLst/>
          </a:prstGeom>
          <a:solidFill>
            <a:srgbClr val="E9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8463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D7377"/>
                </a:solidFill>
                <a:latin typeface="Calibri"/>
              </a:rPr>
              <a:t>Desventajas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892040" cy="37490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Hilos condicionados por el aislamiento cross-origin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SIMD parcial (build escalar en Linux; -msimd128 en Windows)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Límites de memoria del navegador (128 MiB inicial, wasm32)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Build artesanal: emsdk + vcpkg + motor parcheado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Potencia por cliente, no por clúster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La GUI — Lo que el Usuario Construye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El editor de 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Nodos: junction, outfall, storage, divider, rain gage · Enlaces: conduit, pump, weir, orifice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Subcuencas dibujadas como polígonos; undo/redo, snap y arrastre, panel de propiedades por esquema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Importar: .json, .inp SWMM, shapefile (.zip), DXF, GeoJSON · Exportar: .inp / .json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Sistemas de coordenadas: WGS84, UTM/EPSG, local; importar como red o capas de referencia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Opciones de simulación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Flow routing: Kinematic / Dynamic Wave / Steady / </a:t>
            </a:r>
            <a:r>
              <a:rPr sz="1300" b="1">
                <a:solidFill>
                  <a:srgbClr val="1A1A2E"/>
                </a:solidFill>
                <a:latin typeface="Calibri"/>
              </a:rPr>
              <a:t>Finite Volume (FV)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Panel FV avanzado: CFL, solver de Riemann (HLLC/HLL), orden, limiter, LTS, acoplamiento de nodo…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Node continuity: Legacy / SEMI_IMPLICIT · Anderson acceleration · recuperación RDII (k0, kT, Tref)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Diálogo de malla 2D: fuentes de terreno, calidad de malla, hidráulica y defaults del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Correr y ver 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Run Status: progreso en tiempo simulado (real en la vía 2D; versión del motor estampada)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Time slider: play/pause/velocidad sobre los pasos; coloreo del mapa vía feature-state de Mapbox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Tablas de resultados: profundidad/inflows de nodo, flujos de enlace, escorrentía + tarjetas KPI, sparklines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Gráficos de perfil hidráulico y series de tiempo; frames 2D (depth/head/velocity) + marcher WebGPU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Mapbox 3D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3D View</a:t>
            </a:r>
            <a:r>
              <a:rPr sz="1300" b="0">
                <a:solidFill>
                  <a:srgbClr val="1A1A2E"/>
                </a:solidFill>
                <a:latin typeface="Calibri"/>
              </a:rPr>
              <a:t>: terreno y edificios de Mapbox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3D Net</a:t>
            </a:r>
            <a:r>
              <a:rPr sz="1300" b="0">
                <a:solidFill>
                  <a:srgbClr val="1A1A2E"/>
                </a:solidFill>
                <a:latin typeface="Calibri"/>
              </a:rPr>
              <a:t>: geometría de la red extruida con fill-extrusion — cámaras, tuberías, weirs/orifices/bombas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Geometría guiada por el </a:t>
            </a:r>
            <a:r>
              <a:rPr sz="1300" b="1">
                <a:solidFill>
                  <a:srgbClr val="1A1A2E"/>
                </a:solidFill>
                <a:latin typeface="Calibri"/>
              </a:rPr>
              <a:t>modelo SWMM</a:t>
            </a:r>
            <a:r>
              <a:rPr sz="1300" b="0">
                <a:solidFill>
                  <a:srgbClr val="1A1A2E"/>
                </a:solidFill>
                <a:latin typeface="Calibri"/>
              </a:rPr>
              <a:t> (inverts, secciones) — no por datos de Mapbox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Colores de resultados espejados sobre las extrusiones 3D a lo largo del time slider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El Esquema de Cálculo 1D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El esquema 1D hoy (dynamic wave)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Por paso: control de dt → escorrentía → kernel de momentum de enlace → actualización de profundidad → </a:t>
            </a:r>
            <a:r>
              <a:rPr sz="1300" b="1">
                <a:solidFill>
                  <a:srgbClr val="1A1A2E"/>
                </a:solidFill>
                <a:latin typeface="Calibri"/>
              </a:rPr>
              <a:t>convergencia Picard</a:t>
            </a:r>
            <a:r>
              <a:rPr sz="1300" b="0">
                <a:solidFill>
                  <a:srgbClr val="1A1A2E"/>
                </a:solidFill>
                <a:latin typeface="Calibri"/>
              </a:rPr>
              <a:t> (8 intentos, tol 0,005 ft)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Momentum: St. Venant implícito, seis contribuciones por barril; amortiguación inercial parcial por Froude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Continuidad de nodo: cambio de volumen trapezoidal; default EXPLICIT + slot de rebalse EXTRAN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SEMI_IMPLICIT (opcional) unifica superficie libre y rebalse en una ecuación suave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Modificaciones del motor que añade LocalSWMM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Aceleración de Anderson</a:t>
            </a:r>
            <a:r>
              <a:rPr sz="1300" b="0">
                <a:solidFill>
                  <a:srgbClr val="1A1A2E"/>
                </a:solidFill>
                <a:latin typeface="Calibri"/>
              </a:rPr>
              <a:t>: −25–50% de iteraciones Picard en transiciones rígidas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Slot de Preissmann dinámico</a:t>
            </a:r>
            <a:r>
              <a:rPr sz="1300" b="0">
                <a:solidFill>
                  <a:srgbClr val="1A1A2E"/>
                </a:solidFill>
                <a:latin typeface="Calibri"/>
              </a:rPr>
              <a:t>: almacenamiento transitorio sin 'apretón de slot'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Junctions virtuales</a:t>
            </a:r>
            <a:r>
              <a:rPr sz="1300" b="0">
                <a:solidFill>
                  <a:srgbClr val="1A1A2E"/>
                </a:solidFill>
                <a:latin typeface="Calibri"/>
              </a:rPr>
              <a:t>: cámaras de almacenamiento cero para cambios de pendiente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Routing de volumen finito (FV)</a:t>
            </a:r>
            <a:r>
              <a:rPr sz="1300" b="0">
                <a:solidFill>
                  <a:srgbClr val="1A1A2E"/>
                </a:solidFill>
                <a:latin typeface="Calibri"/>
              </a:rPr>
              <a:t>: solver Godunov conservativo, LTS hasta 6 niveles, transcrítico y seco-mojado nativos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Recuperación RDII con decaimiento; acoplamiento 1D↔2D (ley de orificio, intercambio en vivo)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Roadmap 1D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Routing FV integrándose de punta a punta en la UI (dropdown + opciones avanzadas, parser/exporter)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Semi-implícito + Anderson endurecidos por fixes recientes del motor (signo de continuidad, doble conteo)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Realidad: el dynamic wave 1D es </a:t>
            </a:r>
            <a:r>
              <a:rPr sz="1300" b="1">
                <a:solidFill>
                  <a:srgbClr val="1A1A2E"/>
                </a:solidFill>
                <a:latin typeface="Calibri"/>
              </a:rPr>
              <a:t>≈90% del tiempo de muro</a:t>
            </a:r>
            <a:r>
              <a:rPr sz="1300" b="0">
                <a:solidFill>
                  <a:srgbClr val="1A1A2E"/>
                </a:solidFill>
                <a:latin typeface="Calibri"/>
              </a:rPr>
              <a:t> — knobs de velocidad medidos y rechazados (fidelidad)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Marcher WebGPU: M0–M3 listo, M4/M5 pendientes; opcional — 0,13 ms/subpaso en 2D, aún no más rápido en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Técnico Profundo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Cómo funciona el render de Street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StreetViewPanorama de Google embebido en el editor Mapbox (botón Pegman)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La red se reproyecta al plano del pano: rango/azimut haversine + </a:t>
            </a:r>
            <a:r>
              <a:rPr sz="1300" b="1">
                <a:solidFill>
                  <a:srgbClr val="1A1A2E"/>
                </a:solidFill>
                <a:latin typeface="Calibri"/>
              </a:rPr>
              <a:t>modelo gnómico de pinhole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Corrección de terreno: Mapbox queryTerrainElevation, fallback a Google Elevation API (batch + caché)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Dibujado en un canvas pointer-events-none; redibujos coalescidos por rAF; cámara Mapbox sincronizada al pano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Migración al servidor — el plan de escalamiento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Hoy: el motor corre 100% en el navegador (WASM); solo existe GET /api/status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Plan: un </a:t>
            </a:r>
            <a:r>
              <a:rPr sz="1300" b="1">
                <a:solidFill>
                  <a:srgbClr val="1A1A2E"/>
                </a:solidFill>
                <a:latin typeface="Calibri"/>
              </a:rPr>
              <a:t>servicio nativo con pool de workers</a:t>
            </a:r>
            <a:r>
              <a:rPr sz="1300" b="0">
                <a:solidFill>
                  <a:srgbClr val="1A1A2E"/>
                </a:solidFill>
                <a:latin typeface="Calibri"/>
              </a:rPr>
              <a:t> (un proceso por núcleo) + una cola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Seam </a:t>
            </a:r>
            <a:r>
              <a:rPr sz="1300" b="1">
                <a:solidFill>
                  <a:srgbClr val="1A1A2E"/>
                </a:solidFill>
                <a:latin typeface="Calibri"/>
              </a:rPr>
              <a:t>EngineClient</a:t>
            </a:r>
            <a:r>
              <a:rPr sz="1300" b="0">
                <a:solidFill>
                  <a:srgbClr val="1A1A2E"/>
                </a:solidFill>
                <a:latin typeface="Calibri"/>
              </a:rPr>
              <a:t>: Modo local (WASM) vs Modo API (default) — la misma GUI, dos motores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API: enviar una corrida, progreso por ID (tiempo simulado real), resultados (.out/.rpt/JSON + frames 2D), estado del sistema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La misma API C que usa el navegador; el build nativo elimina las restricciones pthread/SAB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Futuro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Biblioteca de modelos del usuario en nube gratuita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Google Drive</a:t>
            </a:r>
            <a:r>
              <a:rPr sz="1300" b="0">
                <a:solidFill>
                  <a:srgbClr val="1A1A2E"/>
                </a:solidFill>
                <a:latin typeface="Calibri"/>
              </a:rPr>
              <a:t>: 15 GB gratis por usuario, API gratuita hoy, OAuth solo-navegador con el scope drive.file (sin verificación, sin tope de 100 usuarios)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Alternativas: GitHub Gists (solo texto, ≤1 MB), Dropbox (2 GB), Cloudflare R2 (10 GB, requiere backend), Supabase (1 GB, se pausa)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Recomendado: Drive para bibliotecas de usuario; R2/Supabase después para almacenar resultados server-side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Resumen del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Mantener la vía WASM para privacidad y offline; añadir el pool nativo para corridas demasiado pesadas para una pestaña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Terminar la UX del routing FV y endurecer la numérica 1D; aterrizar WebGPU M4/M5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Publicar la biblioteca de modelos (Drive) y el seam EngineClient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Posicionar LocalSWMM como la GUI web de referencia para OpenSWMM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