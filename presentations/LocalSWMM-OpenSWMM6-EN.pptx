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1920240" cy="64008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FFFFFF"/>
                </a:solidFill>
                <a:latin typeface="Calibri"/>
              </a:rPr>
              <a:t>LocalSWMM — The </a:t>
            </a:r>
            <a:r>
              <a:rPr sz="4400" b="1">
                <a:solidFill>
                  <a:srgbClr val="FFFFFF"/>
                </a:solidFill>
                <a:latin typeface="Calibri"/>
              </a:rPr>
              <a:t>OpenSWMM 6</a:t>
            </a:r>
            <a:r>
              <a:rPr sz="4400" b="0">
                <a:solidFill>
                  <a:srgbClr val="FFFFFF"/>
                </a:solidFill>
                <a:latin typeface="Calibri"/>
              </a:rPr>
              <a:t> Engine, in the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31920"/>
            <a:ext cx="9601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FD2E5"/>
                </a:solidFill>
                <a:latin typeface="Calibri"/>
              </a:rPr>
              <a:t>A WebAssembly-powered web GUI for stormwater &amp; wastewater modeling · Research &amp; technical overview of the engine, the GUI, the 1D scheme, and the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400" b="0">
                <a:solidFill>
                  <a:srgbClr val="9FB6CC"/>
                </a:solidFill>
                <a:latin typeface="Calibri"/>
              </a:rPr>
              <a:t>LocalSWMM · https://swmm6.is-local.org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The Gap: SWMM 6.0 is community-driven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US EPA has not released SWMM 6.0 — the official page still lists </a:t>
            </a:r>
            <a:r>
              <a:rPr sz="1300" b="1">
                <a:solidFill>
                  <a:srgbClr val="1A1A2E"/>
                </a:solidFill>
                <a:latin typeface="Calibri"/>
              </a:rPr>
              <a:t>SWMM 5.2.4</a:t>
            </a:r>
            <a:r>
              <a:rPr sz="1300" b="0">
                <a:solidFill>
                  <a:srgbClr val="1A1A2E"/>
                </a:solidFill>
                <a:latin typeface="Calibri"/>
              </a:rPr>
              <a:t> (2023)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The 6.x line lives only in the community: the </a:t>
            </a:r>
            <a:r>
              <a:rPr sz="1300" b="1">
                <a:solidFill>
                  <a:srgbClr val="1A1A2E"/>
                </a:solidFill>
                <a:latin typeface="Calibri"/>
              </a:rPr>
              <a:t>HydroCouple OpenSWMM</a:t>
            </a:r>
            <a:r>
              <a:rPr sz="1300" b="0">
                <a:solidFill>
                  <a:srgbClr val="1A1A2E"/>
                </a:solidFill>
                <a:latin typeface="Calibri"/>
              </a:rPr>
              <a:t> engine (a fork of the EPA repo)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OpenSWMM </a:t>
            </a:r>
            <a:r>
              <a:rPr sz="1300" b="1">
                <a:solidFill>
                  <a:srgbClr val="1A1A2E"/>
                </a:solidFill>
                <a:latin typeface="Calibri"/>
              </a:rPr>
              <a:t>6.0.0-alpha.1 debuted May 2026</a:t>
            </a:r>
            <a:r>
              <a:rPr sz="1300" b="0">
                <a:solidFill>
                  <a:srgbClr val="1A1A2E"/>
                </a:solidFill>
                <a:latin typeface="Calibri"/>
              </a:rPr>
              <a:t> (alpha.3 current)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Rewritten in </a:t>
            </a:r>
            <a:r>
              <a:rPr sz="1300" b="1">
                <a:solidFill>
                  <a:srgbClr val="1A1A2E"/>
                </a:solidFill>
                <a:latin typeface="Calibri"/>
              </a:rPr>
              <a:t>C++20</a:t>
            </a:r>
            <a:r>
              <a:rPr sz="1300" b="0">
                <a:solidFill>
                  <a:srgbClr val="1A1A2E"/>
                </a:solidFill>
                <a:latin typeface="Calibri"/>
              </a:rPr>
              <a:t>: data-oriented (Structure-of-Arrays), reentrant engine, plugin I/O on a dedicated thread, Kokkos GPU backends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New hydraulics: semi-implicit node continuity, Anderson acceleration, finite-volume routing, 1D/2D coupled overland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A First-Mover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The official WebAssembly bindings repo (</a:t>
            </a:r>
            <a:r>
              <a:rPr sz="1300" b="1">
                <a:solidFill>
                  <a:srgbClr val="1A1A2E"/>
                </a:solidFill>
                <a:latin typeface="Calibri"/>
              </a:rPr>
              <a:t>openswmm.engine.wasm</a:t>
            </a:r>
            <a:r>
              <a:rPr sz="1300" b="0">
                <a:solidFill>
                  <a:srgbClr val="1A1A2E"/>
                </a:solidFill>
                <a:latin typeface="Calibri"/>
              </a:rPr>
              <a:t>) is an empty stub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Few projects build on the v6 engine: a desktop Qt GUI, a batch runner, Python/agent tooling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LocalSWMM is the only full, map-based browser GUI</a:t>
            </a:r>
            <a:r>
              <a:rPr sz="1300" b="0">
                <a:solidFill>
                  <a:srgbClr val="1A1A2E"/>
                </a:solidFill>
                <a:latin typeface="Calibri"/>
              </a:rPr>
              <a:t> on OpenSWMM 6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Created 2 days after alpha.1 (May 2026) — early position in a nascent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State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100% in-browser</a:t>
            </a:r>
            <a:r>
              <a:rPr sz="1300" b="0">
                <a:solidFill>
                  <a:srgbClr val="1A1A2E"/>
                </a:solidFill>
                <a:latin typeface="Calibri"/>
              </a:rPr>
              <a:t>: editor, mesher, and engine run in the browser — no backend, no database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~15,000 lines of dependency-free JavaScript (classic IIFEs) + Mapbox GL JS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Stable: 1D editor + engine pipeline. Experimental: 2D module + opt-in WebGPU marcher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Engine pinned as a git submodule (HydroCouple fork + wasm-compat fixes)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Deploys: Cloudflare Pages (production, threaded build) + GitHub Pages (no threads)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The Engine in the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Architecture — Client-Side Only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The OpenSWMM engine compiled to </a:t>
            </a:r>
            <a:r>
              <a:rPr sz="1300" b="1">
                <a:solidFill>
                  <a:srgbClr val="1A1A2E"/>
                </a:solidFill>
                <a:latin typeface="Calibri"/>
              </a:rPr>
              <a:t>WebAssembly with Emscripten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Data flow: model → INP → worker → WASM engine → .rpt/.out → results (tables, map, plots)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The only server: static files + a health endpoint (</a:t>
            </a:r>
            <a:r>
              <a:rPr sz="1300" b="1">
                <a:solidFill>
                  <a:srgbClr val="1A1A2E"/>
                </a:solidFill>
                <a:latin typeface="Calibri"/>
              </a:rPr>
              <a:t>GET /api/status</a:t>
            </a:r>
            <a:r>
              <a:rPr sz="1300" b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Two simulation backends: the WASM engine (1D + 1D/2D) and an experimental WebGPU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C++ → WASM with Emscripten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clang/LLVM compiles C++20 to a </a:t>
            </a:r>
            <a:r>
              <a:rPr sz="1300" b="1">
                <a:solidFill>
                  <a:srgbClr val="1A1A2E"/>
                </a:solidFill>
                <a:latin typeface="Calibri"/>
              </a:rPr>
              <a:t>WebAssembly binary + JS glue loader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vcpkg-managed deps: eigen3, hdf5, nlohmann-json, sundials — wasm32-emscripten triplet, static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CMake wrapper flags: MODULARIZE, EXPORT_NAME createOpenSwmm2D, ALLOW_MEMORY_GROWTH, FILESYSTEM=1 (MEMFS)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Result: ~</a:t>
            </a:r>
            <a:r>
              <a:rPr sz="1300" b="1">
                <a:solidFill>
                  <a:srgbClr val="1A1A2E"/>
                </a:solidFill>
                <a:latin typeface="Calibri"/>
              </a:rPr>
              <a:t>4.8 MB</a:t>
            </a:r>
            <a:r>
              <a:rPr sz="1300" b="0">
                <a:solidFill>
                  <a:srgbClr val="1A1A2E"/>
                </a:solidFill>
                <a:latin typeface="Calibri"/>
              </a:rPr>
              <a:t> .wasm + ~91 KB glue; async streaming compile, pre-warmed in a worker at page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The C API Bridge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31 exported symbols</a:t>
            </a:r>
            <a:r>
              <a:rPr sz="1300" b="0">
                <a:solidFill>
                  <a:srgbClr val="1A1A2E"/>
                </a:solidFill>
                <a:latin typeface="Calibri"/>
              </a:rPr>
              <a:t>: swmm_engine_*, swmm_2d_*, swmm_node_*, malloc/free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Engine runs inside a </a:t>
            </a:r>
            <a:r>
              <a:rPr sz="1300" b="1">
                <a:solidFill>
                  <a:srgbClr val="1A1A2E"/>
                </a:solidFill>
                <a:latin typeface="Calibri"/>
              </a:rPr>
              <a:t>persistent Web Worker</a:t>
            </a:r>
            <a:r>
              <a:rPr sz="1300" b="0">
                <a:solidFill>
                  <a:srgbClr val="1A1A2E"/>
                </a:solidFill>
                <a:latin typeface="Calibri"/>
              </a:rPr>
              <a:t>; a fresh instance per run (~10–50 ms)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Model in: FS.writeFile('/in.inp') · results out: FS.readFile('/rpt.rpt' + '/out.out')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A stride() loop drives the simulation; the binary .out is parsed zero-copy (Float32Array views)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Threading &amp; Cross-Origin Isolation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OpenMP solver loops map to </a:t>
            </a:r>
            <a:r>
              <a:rPr sz="1300" b="1">
                <a:solidFill>
                  <a:srgbClr val="1A1A2E"/>
                </a:solidFill>
                <a:latin typeface="Calibri"/>
              </a:rPr>
              <a:t>Emscripten pthreads → SharedArrayBuffer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SharedArrayBuffer is gated behind </a:t>
            </a:r>
            <a:r>
              <a:rPr sz="1300" b="1">
                <a:solidFill>
                  <a:srgbClr val="1A1A2E"/>
                </a:solidFill>
                <a:latin typeface="Calibri"/>
              </a:rPr>
              <a:t>COOP/COEP headers</a:t>
            </a:r>
            <a:r>
              <a:rPr sz="1300" b="0">
                <a:solidFill>
                  <a:srgbClr val="1A1A2E"/>
                </a:solidFill>
                <a:latin typeface="Calibri"/>
              </a:rPr>
              <a:t> — the page must be cross-origin isolated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Cloudflare Pages serves the headers (production); </a:t>
            </a:r>
            <a:r>
              <a:rPr sz="1300" b="1">
                <a:solidFill>
                  <a:srgbClr val="1A1A2E"/>
                </a:solidFill>
                <a:latin typeface="Calibri"/>
              </a:rPr>
              <a:t>GitHub Pages cannot → no threaded build</a:t>
            </a:r>
            <a:r>
              <a:rPr sz="1300" b="0">
                <a:solidFill>
                  <a:srgbClr val="1A1A2E"/>
                </a:solidFill>
                <a:latin typeface="Calibri"/>
              </a:rPr>
              <a:t> there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PTHREAD_POOL_SIZE=4 pre-spawns workers; blocking waits run on a worker thread, never the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A Browser Engine: Advantages vs Disadvantages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5349240" cy="4663440"/>
          </a:xfrm>
          <a:prstGeom prst="rect">
            <a:avLst/>
          </a:prstGeom>
          <a:solidFill>
            <a:srgbClr val="E9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D7377"/>
                </a:solidFill>
                <a:latin typeface="Calibri"/>
              </a:rP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892040" cy="37490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Privacy: models never leave the device — no server, no account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Offline-capable, zero-install, cross-platform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No server cost; scales to zero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The same C++ codebase builds native AND wasm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Sandboxed, near-native scalar speed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49240" cy="4663440"/>
          </a:xfrm>
          <a:prstGeom prst="rect">
            <a:avLst/>
          </a:prstGeom>
          <a:solidFill>
            <a:srgbClr val="E9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8463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D7377"/>
                </a:solidFill>
                <a:latin typeface="Calibri"/>
              </a:rPr>
              <a:t>Disadvantages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892040" cy="374903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Threads gated by cross-origin isolation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Partial SIMD (scalar build on Linux; -msimd128 on Windows)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Browser memory ceilings (128 MiB initial, wasm32)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Bespoke build: emsdk + vcpkg + patched engine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1">
                <a:solidFill>
                  <a:srgbClr val="5A6B7B"/>
                </a:solidFill>
                <a:latin typeface="Calibri"/>
              </a:rPr>
              <a:t>–  </a:t>
            </a:r>
            <a:r>
              <a:rPr sz="1100" b="0">
                <a:solidFill>
                  <a:srgbClr val="1A1A2E"/>
                </a:solidFill>
                <a:latin typeface="Calibri"/>
              </a:rPr>
              <a:t>Per-client horsepower, not per-cluster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The GUI — What the User Builds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The Network Editor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Nodes: junction, outfall, storage, divider, rain gage · Links: conduit, pump, weir, orifice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Subcatchments drawn as polygons; undo/redo, snap &amp; drag, schema-driven properties panel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Import: .json, SWMM .inp, shapefile (.zip), DXF, GeoJSON · Export: .inp / .json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Coordinate systems: WGS84, UTM/EPSG, local; import as network or reference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Simulation Options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Flow routing: Kinematic / Dynamic Wave / Steady / </a:t>
            </a:r>
            <a:r>
              <a:rPr sz="1300" b="1">
                <a:solidFill>
                  <a:srgbClr val="1A1A2E"/>
                </a:solidFill>
                <a:latin typeface="Calibri"/>
              </a:rPr>
              <a:t>Finite Volume (FV)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Advanced FV panel: CFL, Riemann solver (HLLC/HLL), order, limiter, LTS, node coupling…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Node continuity: Legacy / SEMI_IMPLICIT · Anderson acceleration · RDII recovery (k0, kT, Tref)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2D mesh dialog: terrain sources, mesh quality, hydraulics &amp; solver defaults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Run &amp;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Run Status: live progress in simulated time (real for the 2D path; engine version stamped)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Time slider: play/pause/speed over steps; map coloring via Mapbox feature-state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Results tables: node depths/inflows, link flows, subcatchment runoff + KPI cards, sparklines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Hydraulic profile &amp; time-series plots; 2D frames (depth/head/velocity) + WebGPU marcher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Mapbox 3D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3D View</a:t>
            </a:r>
            <a:r>
              <a:rPr sz="1300" b="0">
                <a:solidFill>
                  <a:srgbClr val="1A1A2E"/>
                </a:solidFill>
                <a:latin typeface="Calibri"/>
              </a:rPr>
              <a:t>: Mapbox terrain + extruded buildings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3D Net</a:t>
            </a:r>
            <a:r>
              <a:rPr sz="1300" b="0">
                <a:solidFill>
                  <a:srgbClr val="1A1A2E"/>
                </a:solidFill>
                <a:latin typeface="Calibri"/>
              </a:rPr>
              <a:t>: network geometry extruded via fill-extrusion — manholes, pipes, weirs/orifices/pumps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Geometry driven by the </a:t>
            </a:r>
            <a:r>
              <a:rPr sz="1300" b="1">
                <a:solidFill>
                  <a:srgbClr val="1A1A2E"/>
                </a:solidFill>
                <a:latin typeface="Calibri"/>
              </a:rPr>
              <a:t>SWMM model</a:t>
            </a:r>
            <a:r>
              <a:rPr sz="1300" b="0">
                <a:solidFill>
                  <a:srgbClr val="1A1A2E"/>
                </a:solidFill>
                <a:latin typeface="Calibri"/>
              </a:rPr>
              <a:t> (inverts, cross-sections) — not by Mapbox data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Simulation result colors mirrored onto the 3D extrusions across the time slider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The 1D Calculation Scheme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The 1D Scheme Today (Dynamic Wave)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Per step: time-step control → runoff → link momentum kernel → node depth update → </a:t>
            </a:r>
            <a:r>
              <a:rPr sz="1300" b="1">
                <a:solidFill>
                  <a:srgbClr val="1A1A2E"/>
                </a:solidFill>
                <a:latin typeface="Calibri"/>
              </a:rPr>
              <a:t>Picard convergence</a:t>
            </a:r>
            <a:r>
              <a:rPr sz="1300" b="0">
                <a:solidFill>
                  <a:srgbClr val="1A1A2E"/>
                </a:solidFill>
                <a:latin typeface="Calibri"/>
              </a:rPr>
              <a:t> (8 trials, head tol 0.005 ft)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Momentum: implicit St. Venant, six per-barrel contributions; Froude-based partial-inertia damping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Node continuity: trapezoidal volume change; default EXPLICIT + EXTRAN surcharge slot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Opt-in SEMI_IMPLICIT unifies free-surface and surcharge in one smooth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Engine Modifications LocalSWMM Adds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Anderson acceleration</a:t>
            </a:r>
            <a:r>
              <a:rPr sz="1300" b="0">
                <a:solidFill>
                  <a:srgbClr val="1A1A2E"/>
                </a:solidFill>
                <a:latin typeface="Calibri"/>
              </a:rPr>
              <a:t>: −25–50% Picard iterations on stiff transitions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Dynamic Preissmann slot</a:t>
            </a:r>
            <a:r>
              <a:rPr sz="1300" b="0">
                <a:solidFill>
                  <a:srgbClr val="1A1A2E"/>
                </a:solidFill>
                <a:latin typeface="Calibri"/>
              </a:rPr>
              <a:t>: transient-storage slot without 'slot squeezing'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Virtual junctions</a:t>
            </a:r>
            <a:r>
              <a:rPr sz="1300" b="0">
                <a:solidFill>
                  <a:srgbClr val="1A1A2E"/>
                </a:solidFill>
                <a:latin typeface="Calibri"/>
              </a:rPr>
              <a:t>: zero-storage chambers for slope breaks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Finite-volume routing (FV)</a:t>
            </a:r>
            <a:r>
              <a:rPr sz="1300" b="0">
                <a:solidFill>
                  <a:srgbClr val="1A1A2E"/>
                </a:solidFill>
                <a:latin typeface="Calibri"/>
              </a:rPr>
              <a:t>: conservative Godunov solver, LTS up to 6 tiers, native transcritical &amp; dry/wet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RDII decay recovery; 1D↔2D coupling (orifice law, live exchange)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1D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FV routing being wired end-to-end into the UI (dropdown + advanced options, parser/exporter)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Semi-implicit + Anderson path hardened by recent engine fixes (continuity sign, double-count)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Reality check: the 1D dynamic wave is </a:t>
            </a:r>
            <a:r>
              <a:rPr sz="1300" b="1">
                <a:solidFill>
                  <a:srgbClr val="1A1A2E"/>
                </a:solidFill>
                <a:latin typeface="Calibri"/>
              </a:rPr>
              <a:t>≈90% of wall time</a:t>
            </a:r>
            <a:r>
              <a:rPr sz="1300" b="0">
                <a:solidFill>
                  <a:srgbClr val="1A1A2E"/>
                </a:solidFill>
                <a:latin typeface="Calibri"/>
              </a:rPr>
              <a:t> — speed knobs measured and rejected (fidelity)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WebGPU marcher: M0–M3 done, M4/M5 pending; opt-in — 0.13 ms/substep 2D, not yet faster overall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Deep Technical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How Street View Rendering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Google StreetViewPanorama embedded in the Mapbox editor (Pegman button)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Network re-projected onto the pano plane: haversine range/bearing + </a:t>
            </a:r>
            <a:r>
              <a:rPr sz="1300" b="1">
                <a:solidFill>
                  <a:srgbClr val="1A1A2E"/>
                </a:solidFill>
                <a:latin typeface="Calibri"/>
              </a:rPr>
              <a:t>gnomonic pinhole model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Terrain correction: Mapbox queryTerrainElevation, fallback to Google Elevation API (batched, cached)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Drawn on a pointer-events-none canvas; rAF-coalesced redraws; Mapbox camera synced to the pano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Server-Side Migration — the Scaling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Today: the engine runs 100% in the browser (WASM); only GET /api/status exists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Planned: a </a:t>
            </a:r>
            <a:r>
              <a:rPr sz="1300" b="1">
                <a:solidFill>
                  <a:srgbClr val="1A1A2E"/>
                </a:solidFill>
                <a:latin typeface="Calibri"/>
              </a:rPr>
              <a:t>native service with a pool of workers</a:t>
            </a:r>
            <a:r>
              <a:rPr sz="1300" b="0">
                <a:solidFill>
                  <a:srgbClr val="1A1A2E"/>
                </a:solidFill>
                <a:latin typeface="Calibri"/>
              </a:rPr>
              <a:t> (one process per core) + a queue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EngineClient</a:t>
            </a:r>
            <a:r>
              <a:rPr sz="1300" b="0">
                <a:solidFill>
                  <a:srgbClr val="1A1A2E"/>
                </a:solidFill>
                <a:latin typeface="Calibri"/>
              </a:rPr>
              <a:t> seam: Modo local (WASM) vs Modo API (default) — the same GUI, two engines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API: submit a corrida, progress by ID (real sim-time), results (.out/.rpt/JSON + 2D frames), system state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The same C API the browser uses; the native build drops the pthread/SAB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6000" b="1">
                <a:solidFill>
                  <a:srgbClr val="E8A93D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2801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User Model Library on Free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1">
                <a:solidFill>
                  <a:srgbClr val="1A1A2E"/>
                </a:solidFill>
                <a:latin typeface="Calibri"/>
              </a:rPr>
              <a:t>Google Drive</a:t>
            </a:r>
            <a:r>
              <a:rPr sz="1300" b="0">
                <a:solidFill>
                  <a:srgbClr val="1A1A2E"/>
                </a:solidFill>
                <a:latin typeface="Calibri"/>
              </a:rPr>
              <a:t>: 15 GB free per user, API free today, browser-only OAuth with the drive.file scope (no verification, no 100-user cap)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Alternatives: GitHub Gists (text-only, ≤1 MB), Dropbox (2 GB), Cloudflare R2 (10 GB, needs backend), Supabase (1 GB, pauses)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Recommended: Drive for user libraries; R2/Supabase later for server-side results storage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2600" b="1">
                <a:solidFill>
                  <a:srgbClr val="0B3D6B"/>
                </a:solidFill>
                <a:latin typeface="Calibri"/>
              </a:rPr>
              <a:t>Roadmap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70432"/>
            <a:ext cx="2377440" cy="45720"/>
          </a:xfrm>
          <a:prstGeom prst="rect">
            <a:avLst/>
          </a:prstGeom>
          <a:solidFill>
            <a:srgbClr val="E8A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1064240" cy="4754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Keep the WASM path for privacy &amp; offline; add the native pool for runs too heavy for one tab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Finish FV routing UX and harden the 1D numerics; land WebGPU M4/M5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Ship the user model library (Drive) and the EngineClient seam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5A6B7B"/>
                </a:solidFill>
                <a:latin typeface="Calibri"/>
              </a:rPr>
              <a:t>–  </a:t>
            </a:r>
            <a:r>
              <a:rPr sz="1300" b="0">
                <a:solidFill>
                  <a:srgbClr val="1A1A2E"/>
                </a:solidFill>
                <a:latin typeface="Calibri"/>
              </a:rPr>
              <a:t>Position LocalSWMM as the reference web GUI for OpenSWMM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/>
            <a:r>
              <a:rPr sz="1000" b="0">
                <a:solidFill>
                  <a:srgbClr val="5A6B7B"/>
                </a:solidFill>
                <a:latin typeface="Calibri"/>
              </a:rPr>
              <a:t>LocalSWMM · OpenSWMM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/>
            <a:r>
              <a:rPr sz="1000" b="0">
                <a:solidFill>
                  <a:srgbClr val="5A6B7B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